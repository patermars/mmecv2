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fntdata" ContentType="application/x-fontdata"/>
  <Default Extension="rels" ContentType="application/vnd.openxmlformats-package.relationships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trictFirstAndLastChars="0" embedTrueTypeFonts="1" saveSubsetFonts="1" autoCompressPictures="0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4630400" cy="8229600"/>
  <p:notesSz cx="8229600" cy="14630400"/>
  <p:embeddedFontLst>
    <p:embeddedFont>
      <p:font typeface="Inter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6.xml" Id="rId20" /><Relationship Type="http://schemas.openxmlformats.org/officeDocument/2006/relationships/slide" Target="/ppt/slides/slide18.xml" Id="rId22" /><Relationship Type="http://schemas.openxmlformats.org/officeDocument/2006/relationships/slide" Target="/ppt/slides/slide17.xml" Id="rId21" /><Relationship Type="http://schemas.openxmlformats.org/officeDocument/2006/relationships/font" Target="/ppt/fonts/Inter-bold.fntdata" Id="rId24" /><Relationship Type="http://schemas.openxmlformats.org/officeDocument/2006/relationships/font" Target="/ppt/fonts/Inter-regular.fntdata" Id="rId23" /><Relationship Type="http://schemas.openxmlformats.org/officeDocument/2006/relationships/theme" Target="/ppt/theme/theme1.xml" Id="rId1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3" /><Relationship Type="http://schemas.openxmlformats.org/officeDocument/2006/relationships/notesMaster" Target="/ppt/notesMasters/notesMaster1.xml" Id="rId4" /><Relationship Type="http://schemas.openxmlformats.org/officeDocument/2006/relationships/slide" Target="/ppt/slides/slide5.xml" Id="rId9" /><Relationship Type="http://schemas.openxmlformats.org/officeDocument/2006/relationships/font" Target="/ppt/fonts/Inter-boldItalic.fntdata" Id="rId26" /><Relationship Type="http://schemas.openxmlformats.org/officeDocument/2006/relationships/font" Target="/ppt/fonts/Inter-italic.fntdata" Id="rId25" /><Relationship Type="http://schemas.openxmlformats.org/officeDocument/2006/relationships/font" Target="/ppt/fonts/DMSans-bold.fntdata" Id="rId28" /><Relationship Type="http://schemas.openxmlformats.org/officeDocument/2006/relationships/font" Target="/ppt/fonts/DMSans-regular.fntdata" Id="rId27" /><Relationship Type="http://schemas.openxmlformats.org/officeDocument/2006/relationships/slide" Target="/ppt/slides/slide1.xml" Id="rId5" /><Relationship Type="http://schemas.openxmlformats.org/officeDocument/2006/relationships/slide" Target="/ppt/slides/slide2.xml" Id="rId6" /><Relationship Type="http://schemas.openxmlformats.org/officeDocument/2006/relationships/font" Target="/ppt/fonts/DMSans-italic.fntdata" Id="rId29" /><Relationship Type="http://schemas.openxmlformats.org/officeDocument/2006/relationships/slide" Target="/ppt/slides/slide3.xml" Id="rId7" /><Relationship Type="http://schemas.openxmlformats.org/officeDocument/2006/relationships/slide" Target="/ppt/slides/slide4.xml" Id="rId8" /><Relationship Type="http://schemas.openxmlformats.org/officeDocument/2006/relationships/font" Target="/ppt/fonts/DMSans-boldItalic.fntdata" Id="rId30" /><Relationship Type="http://schemas.openxmlformats.org/officeDocument/2006/relationships/slide" Target="/ppt/slides/slide7.xml" Id="rId11" /><Relationship Type="http://schemas.openxmlformats.org/officeDocument/2006/relationships/slide" Target="/ppt/slides/slide6.xml" Id="rId10" /><Relationship Type="http://schemas.openxmlformats.org/officeDocument/2006/relationships/slide" Target="/ppt/slides/slide9.xml" Id="rId13" /><Relationship Type="http://schemas.openxmlformats.org/officeDocument/2006/relationships/slide" Target="/ppt/slides/slide8.xml" Id="rId12" /><Relationship Type="http://schemas.openxmlformats.org/officeDocument/2006/relationships/slide" Target="/ppt/slides/slide11.xml" Id="rId15" /><Relationship Type="http://schemas.openxmlformats.org/officeDocument/2006/relationships/slide" Target="/ppt/slides/slide10.xml" Id="rId14" /><Relationship Type="http://schemas.openxmlformats.org/officeDocument/2006/relationships/slide" Target="/ppt/slides/slide13.xml" Id="rId17" /><Relationship Type="http://schemas.openxmlformats.org/officeDocument/2006/relationships/slide" Target="/ppt/slides/slide12.xml" Id="rId16" /><Relationship Type="http://schemas.openxmlformats.org/officeDocument/2006/relationships/slide" Target="/ppt/slides/slide15.xml" Id="rId19" /><Relationship Type="http://schemas.openxmlformats.org/officeDocument/2006/relationships/slide" Target="/ppt/slides/slide14.xml" Id="rI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image" Target="/ppt/media/image4.png" Id="rId3" /><Relationship Type="http://schemas.openxmlformats.org/officeDocument/2006/relationships/hyperlink" Target="https://gamma.app/?utm_source=made-with-gamma" TargetMode="External" Id="rId2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20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3.xml" Id="rId13" /><Relationship Type="http://schemas.openxmlformats.org/officeDocument/2006/relationships/slideLayout" Target="/ppt/slideLayouts/slideLayout12.xml" Id="rId1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5.xml" Id="rId15" /><Relationship Type="http://schemas.openxmlformats.org/officeDocument/2006/relationships/slideLayout" Target="/ppt/slideLayouts/slideLayout14.xml" Id="rId14" /><Relationship Type="http://schemas.openxmlformats.org/officeDocument/2006/relationships/slideLayout" Target="/ppt/slideLayouts/slideLayout17.xml" Id="rId17" /><Relationship Type="http://schemas.openxmlformats.org/officeDocument/2006/relationships/slideLayout" Target="/ppt/slideLayouts/slideLayout16.xml" Id="rId16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8.xml" Id="rId18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Relationship Type="http://schemas.openxmlformats.org/officeDocument/2006/relationships/image" Target="/ppt/media/image37.pn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notesSlide" Target="/ppt/notesSlides/notesSlide3.xml" Id="rId2" /><Relationship Type="http://schemas.openxmlformats.org/officeDocument/2006/relationships/image" Target="/ppt/media/image27.png" Id="rId3" /><Relationship Type="http://schemas.openxmlformats.org/officeDocument/2006/relationships/image" Target="/ppt/media/image17.png" Id="rId4" /><Relationship Type="http://schemas.openxmlformats.org/officeDocument/2006/relationships/image" Target="/ppt/media/image21.png" Id="rI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notesSlide" Target="/ppt/notesSlides/notesSlide4.xml" Id="rId2" /><Relationship Type="http://schemas.openxmlformats.org/officeDocument/2006/relationships/image" Target="/ppt/media/image20.png" Id="rId3" /><Relationship Type="http://schemas.openxmlformats.org/officeDocument/2006/relationships/image" Target="/ppt/media/image19.png" Id="rId4" /><Relationship Type="http://schemas.openxmlformats.org/officeDocument/2006/relationships/image" Target="/ppt/media/image18.png" Id="rId5" /><Relationship Type="http://schemas.openxmlformats.org/officeDocument/2006/relationships/image" Target="/ppt/media/image26.png" Id="rId6" /><Relationship Type="http://schemas.openxmlformats.org/officeDocument/2006/relationships/image" Target="/ppt/media/image24.png" Id="rI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notesSlide" Target="/ppt/notesSlides/notesSlide5.xml" Id="rId2" /><Relationship Type="http://schemas.openxmlformats.org/officeDocument/2006/relationships/image" Target="/ppt/media/image31.png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6.xml" Id="rI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notesSlide" Target="/ppt/notesSlides/notesSlide7.xml" Id="rId2" /><Relationship Type="http://schemas.openxmlformats.org/officeDocument/2006/relationships/image" Target="/ppt/media/image40.png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notesSlide" Target="/ppt/notesSlides/notesSlide8.xml" Id="rId2" /><Relationship Type="http://schemas.openxmlformats.org/officeDocument/2006/relationships/image" Target="/ppt/media/image42.pn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notesSlide" Target="/ppt/notesSlides/notesSlide9.xml" Id="rId2" /><Relationship Type="http://schemas.openxmlformats.org/officeDocument/2006/relationships/image" Target="/ppt/media/image45.pn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notesSlide" Target="/ppt/notesSlides/notesSlide10.xml" Id="rId2" /><Relationship Type="http://schemas.openxmlformats.org/officeDocument/2006/relationships/image" Target="/ppt/media/image29.png" Id="rId3" /><Relationship Type="http://schemas.openxmlformats.org/officeDocument/2006/relationships/image" Target="/ppt/media/image23.pn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notesSlide" Target="/ppt/notesSlides/notesSlide11.xml" Id="rId2" /><Relationship Type="http://schemas.openxmlformats.org/officeDocument/2006/relationships/image" Target="/ppt/media/image41.pn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Relationship Type="http://schemas.openxmlformats.org/officeDocument/2006/relationships/notesSlide" Target="/ppt/notesSlides/notesSlide12.xml" Id="rId2" /><Relationship Type="http://schemas.openxmlformats.org/officeDocument/2006/relationships/image" Target="/ppt/media/image44.png" Id="rI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notesSlide" Target="/ppt/notesSlides/notesSlide13.xml" Id="rId2" /><Relationship Type="http://schemas.openxmlformats.org/officeDocument/2006/relationships/image" Target="/ppt/media/image43.png" Id="rI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Relationship Type="http://schemas.openxmlformats.org/officeDocument/2006/relationships/notesSlide" Target="/ppt/notesSlides/notesSlide14.xml" Id="rId2" /><Relationship Type="http://schemas.openxmlformats.org/officeDocument/2006/relationships/image" Target="/ppt/media/image46.png" Id="rI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Id1" /><Relationship Type="http://schemas.openxmlformats.org/officeDocument/2006/relationships/notesSlide" Target="/ppt/notesSlides/notesSlide15.xml" Id="rId2" /><Relationship Type="http://schemas.openxmlformats.org/officeDocument/2006/relationships/image" Target="/ppt/media/image33.png" Id="rId3" /><Relationship Type="http://schemas.openxmlformats.org/officeDocument/2006/relationships/image" Target="/ppt/media/image32.png" Id="rId4" /><Relationship Type="http://schemas.openxmlformats.org/officeDocument/2006/relationships/image" Target="/ppt/media/image36.png" Id="rId9" /><Relationship Type="http://schemas.openxmlformats.org/officeDocument/2006/relationships/image" Target="/ppt/media/image38.png" Id="rId5" /><Relationship Type="http://schemas.openxmlformats.org/officeDocument/2006/relationships/image" Target="/ppt/media/image39.png" Id="rId6" /><Relationship Type="http://schemas.openxmlformats.org/officeDocument/2006/relationships/image" Target="/ppt/media/image34.png" Id="rId7" /><Relationship Type="http://schemas.openxmlformats.org/officeDocument/2006/relationships/image" Target="/ppt/media/image35.png" Id="rI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Id1" /><Relationship Type="http://schemas.openxmlformats.org/officeDocument/2006/relationships/notesSlide" Target="/ppt/notesSlides/notesSlide16.xml" Id="rId2" /><Relationship Type="http://schemas.openxmlformats.org/officeDocument/2006/relationships/hyperlink" Target="https://github.com/patermars/MMECv2" TargetMode="External" Id="rI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Id1" /><Relationship Type="http://schemas.openxmlformats.org/officeDocument/2006/relationships/notesSlide" Target="/ppt/notesSlides/notesSlide17.xml" Id="rI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Relationship Type="http://schemas.openxmlformats.org/officeDocument/2006/relationships/notesSlide" Target="/ppt/notesSlides/notesSlide18.xml" Id="rId2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/>
          <p:nvPr/>
        </p:nvSpPr>
        <p:spPr>
          <a:xfrm>
            <a:off x="793790" y="145542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Multi-Modal Earnings Call Volatility Prediction</a:t>
            </a:r>
            <a:endParaRPr b="0" i="0" sz="4450" u="none" cap="none" strike="noStrike"/>
          </a:p>
        </p:txBody>
      </p:sp>
      <p:sp>
        <p:nvSpPr>
          <p:cNvPr id="90" name="Google Shape;90;p21"/>
          <p:cNvSpPr/>
          <p:nvPr/>
        </p:nvSpPr>
        <p:spPr>
          <a:xfrm>
            <a:off x="793790" y="3213140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Predicting post-earnings stock volatility by detecting divergence between </a:t>
            </a:r>
            <a:r>
              <a:rPr b="0" i="1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management says and </a:t>
            </a:r>
            <a:r>
              <a:rPr b="0" i="1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how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they say it — fusing language, acoustics, and deep audio representations.</a:t>
            </a:r>
            <a:endParaRPr b="0" i="0" sz="1750" u="none" cap="none" strike="noStrike"/>
          </a:p>
        </p:txBody>
      </p:sp>
      <p:sp>
        <p:nvSpPr>
          <p:cNvPr id="91" name="Google Shape;91;p21"/>
          <p:cNvSpPr/>
          <p:nvPr/>
        </p:nvSpPr>
        <p:spPr>
          <a:xfrm>
            <a:off x="793790" y="455699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92" name="Google Shape;92;p21"/>
          <p:cNvSpPr/>
          <p:nvPr/>
        </p:nvSpPr>
        <p:spPr>
          <a:xfrm>
            <a:off x="793790" y="517505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Aryan Kumar Sinha (25070149032)</a:t>
            </a:r>
            <a:endParaRPr b="0" i="0" sz="1750" u="none" cap="none" strike="noStrike"/>
          </a:p>
        </p:txBody>
      </p:sp>
      <p:sp>
        <p:nvSpPr>
          <p:cNvPr id="93" name="Google Shape;93;p21"/>
          <p:cNvSpPr/>
          <p:nvPr/>
        </p:nvSpPr>
        <p:spPr>
          <a:xfrm>
            <a:off x="793790" y="5793105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Shubh Khare (2570149035)</a:t>
            </a:r>
            <a:endParaRPr b="0" i="0" sz="1750" u="none" cap="none" strike="noStrike"/>
          </a:p>
        </p:txBody>
      </p:sp>
      <p:sp>
        <p:nvSpPr>
          <p:cNvPr id="94" name="Google Shape;94;p21"/>
          <p:cNvSpPr/>
          <p:nvPr/>
        </p:nvSpPr>
        <p:spPr>
          <a:xfrm>
            <a:off x="793790" y="641115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793790" y="1698546"/>
            <a:ext cx="837259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Project Objective &amp; Motivation</a:t>
            </a:r>
            <a:endParaRPr b="0" i="0" sz="4450" u="none" cap="none" strike="noStrike"/>
          </a:p>
        </p:txBody>
      </p:sp>
      <p:sp>
        <p:nvSpPr>
          <p:cNvPr id="101" name="Google Shape;101;p22"/>
          <p:cNvSpPr/>
          <p:nvPr/>
        </p:nvSpPr>
        <p:spPr>
          <a:xfrm>
            <a:off x="793790" y="29743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Core Hypothesis</a:t>
            </a:r>
            <a:endParaRPr b="0" i="0" sz="2200" u="none" cap="none" strike="noStrike"/>
          </a:p>
        </p:txBody>
      </p:sp>
      <p:sp>
        <p:nvSpPr>
          <p:cNvPr id="102" name="Google Shape;102;p22"/>
          <p:cNvSpPr/>
          <p:nvPr/>
        </p:nvSpPr>
        <p:spPr>
          <a:xfrm>
            <a:off x="793790" y="3555444"/>
            <a:ext cx="62447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Official transcripts capture </a:t>
            </a:r>
            <a:r>
              <a:rPr b="0" i="1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is said — but vocal stress signals encode what language alone cannot. Micro-tremors in pitch, jitter, and tonal instability are physiological markers of executive stress that sentiment models systematically miss.</a:t>
            </a:r>
            <a:endParaRPr b="0" i="0" sz="1750" u="none" cap="none" strike="noStrike"/>
          </a:p>
        </p:txBody>
      </p:sp>
      <p:sp>
        <p:nvSpPr>
          <p:cNvPr id="103" name="Google Shape;103;p22"/>
          <p:cNvSpPr/>
          <p:nvPr/>
        </p:nvSpPr>
        <p:spPr>
          <a:xfrm>
            <a:off x="7599521" y="3002637"/>
            <a:ext cx="3008948" cy="3273147"/>
          </a:xfrm>
          <a:prstGeom prst="roundRect">
            <a:avLst>
              <a:gd fmla="val 4862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2"/>
          <p:cNvSpPr/>
          <p:nvPr/>
        </p:nvSpPr>
        <p:spPr>
          <a:xfrm>
            <a:off x="7569041" y="3002637"/>
            <a:ext cx="121920" cy="3273147"/>
          </a:xfrm>
          <a:prstGeom prst="roundRect">
            <a:avLst>
              <a:gd fmla="val 27907" name="adj"/>
            </a:avLst>
          </a:prstGeom>
          <a:solidFill>
            <a:srgbClr val="1C97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7948255" y="3259931"/>
            <a:ext cx="240291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  <a:endParaRPr b="0" i="0" sz="2200" u="none" cap="none" strike="noStrike"/>
          </a:p>
        </p:txBody>
      </p:sp>
      <p:sp>
        <p:nvSpPr>
          <p:cNvPr id="106" name="Google Shape;106;p22"/>
          <p:cNvSpPr/>
          <p:nvPr/>
        </p:nvSpPr>
        <p:spPr>
          <a:xfrm>
            <a:off x="7948255" y="3841075"/>
            <a:ext cx="240291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Predict post-earnings call stock volatility using multi-modal divergence signals across text and audio.</a:t>
            </a:r>
            <a:endParaRPr b="0" i="0" sz="1750" u="none" cap="none" strike="noStrike"/>
          </a:p>
        </p:txBody>
      </p:sp>
      <p:sp>
        <p:nvSpPr>
          <p:cNvPr id="107" name="Google Shape;107;p22"/>
          <p:cNvSpPr/>
          <p:nvPr/>
        </p:nvSpPr>
        <p:spPr>
          <a:xfrm>
            <a:off x="10835283" y="3002637"/>
            <a:ext cx="3008948" cy="3273147"/>
          </a:xfrm>
          <a:prstGeom prst="roundRect">
            <a:avLst>
              <a:gd fmla="val 4862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/>
          <p:nvPr/>
        </p:nvSpPr>
        <p:spPr>
          <a:xfrm>
            <a:off x="10804803" y="3002637"/>
            <a:ext cx="121920" cy="3273147"/>
          </a:xfrm>
          <a:prstGeom prst="roundRect">
            <a:avLst>
              <a:gd fmla="val 27907" name="adj"/>
            </a:avLst>
          </a:prstGeom>
          <a:solidFill>
            <a:srgbClr val="1C97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/>
          <p:nvPr/>
        </p:nvSpPr>
        <p:spPr>
          <a:xfrm>
            <a:off x="11184017" y="3259931"/>
            <a:ext cx="240291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Key Signal</a:t>
            </a:r>
            <a:endParaRPr b="0" i="0" sz="2200" u="none" cap="none" strike="noStrike"/>
          </a:p>
        </p:txBody>
      </p:sp>
      <p:sp>
        <p:nvSpPr>
          <p:cNvPr id="110" name="Google Shape;110;p22"/>
          <p:cNvSpPr/>
          <p:nvPr/>
        </p:nvSpPr>
        <p:spPr>
          <a:xfrm>
            <a:off x="11184017" y="3841075"/>
            <a:ext cx="2402919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Acoustic stress markers (pitch jitter, shimmer, HNR) that are absent from transcript-based NLP pipelines.</a:t>
            </a:r>
            <a:endParaRPr b="0" i="0" sz="1750" u="none" cap="none" strike="noStrike"/>
          </a:p>
        </p:txBody>
      </p:sp>
      <p:sp>
        <p:nvSpPr>
          <p:cNvPr id="111" name="Google Shape;111;p22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793790" y="856178"/>
            <a:ext cx="1047940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The Data Foundation: Three Modalities</a:t>
            </a:r>
            <a:endParaRPr b="0" i="0" sz="4450" u="none" cap="none" strike="noStrike"/>
          </a:p>
        </p:txBody>
      </p:sp>
      <p:pic>
        <p:nvPicPr>
          <p:cNvPr descr="preencoded.png"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113" y="2018586"/>
            <a:ext cx="2411968" cy="24119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/>
          <p:nvPr/>
        </p:nvSpPr>
        <p:spPr>
          <a:xfrm>
            <a:off x="1170623" y="4714042"/>
            <a:ext cx="340483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Acoustic Features — 29D</a:t>
            </a:r>
            <a:endParaRPr b="0" i="0" sz="2200" u="none" cap="none" strike="noStrike"/>
          </a:p>
        </p:txBody>
      </p:sp>
      <p:sp>
        <p:nvSpPr>
          <p:cNvPr id="120" name="Google Shape;120;p23"/>
          <p:cNvSpPr/>
          <p:nvPr/>
        </p:nvSpPr>
        <p:spPr>
          <a:xfrm>
            <a:off x="793790" y="5204460"/>
            <a:ext cx="415861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Extracted via </a:t>
            </a:r>
            <a:r>
              <a:rPr b="1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Praat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librosa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at utterance level. Captures pitch (F0), intensity, jitter, shimmer, HNR, and MFCCs — physiological markers of vocal arousal and stress.</a:t>
            </a:r>
            <a:endParaRPr b="0" i="0" sz="1750" u="none" cap="none" strike="noStrike"/>
          </a:p>
        </p:txBody>
      </p:sp>
      <p:pic>
        <p:nvPicPr>
          <p:cNvPr descr="preencoded.png" id="121" name="Google Shape;1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9216" y="2018586"/>
            <a:ext cx="2411968" cy="2411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/>
          <p:nvPr/>
        </p:nvSpPr>
        <p:spPr>
          <a:xfrm>
            <a:off x="5390198" y="4714042"/>
            <a:ext cx="384988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Textual Embeddings — 768D</a:t>
            </a:r>
            <a:endParaRPr b="0" i="0" sz="2200" u="none" cap="none" strike="noStrike"/>
          </a:p>
        </p:txBody>
      </p:sp>
      <p:sp>
        <p:nvSpPr>
          <p:cNvPr id="123" name="Google Shape;123;p23"/>
          <p:cNvSpPr/>
          <p:nvPr/>
        </p:nvSpPr>
        <p:spPr>
          <a:xfrm>
            <a:off x="5235893" y="5204460"/>
            <a:ext cx="415861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Generated by </a:t>
            </a:r>
            <a:r>
              <a:rPr b="1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FinBERT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, pre-trained on TRC2-financial and Yahoo Finance corpora. Captures domain-specific sentiment, forward guidance tone, and linguistic context.</a:t>
            </a:r>
            <a:endParaRPr b="0" i="0" sz="1750" u="none" cap="none" strike="noStrike"/>
          </a:p>
        </p:txBody>
      </p:sp>
      <p:pic>
        <p:nvPicPr>
          <p:cNvPr descr="preencoded.png" id="124" name="Google Shape;12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1319" y="2018586"/>
            <a:ext cx="2411968" cy="24119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/>
          <p:nvPr/>
        </p:nvSpPr>
        <p:spPr>
          <a:xfrm>
            <a:off x="9677995" y="4714042"/>
            <a:ext cx="415861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Audio Representations — 768D</a:t>
            </a:r>
            <a:endParaRPr b="0" i="0" sz="2200" u="none" cap="none" strike="noStrike"/>
          </a:p>
        </p:txBody>
      </p:sp>
      <p:sp>
        <p:nvSpPr>
          <p:cNvPr id="126" name="Google Shape;126;p23"/>
          <p:cNvSpPr/>
          <p:nvPr/>
        </p:nvSpPr>
        <p:spPr>
          <a:xfrm>
            <a:off x="9677995" y="5558790"/>
            <a:ext cx="415861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Generated by </a:t>
            </a:r>
            <a:r>
              <a:rPr b="1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wav2vec2-base-960h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via self-supervised CNN-Transformer layers. Captures latent speech patterns orthogonal to hand-crafted prosodic features.</a:t>
            </a:r>
            <a:endParaRPr b="0" i="0" sz="1750" u="none" cap="none" strike="noStrike"/>
          </a:p>
        </p:txBody>
      </p:sp>
      <p:sp>
        <p:nvSpPr>
          <p:cNvPr id="127" name="Google Shape;127;p23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/>
        </p:nvSpPr>
        <p:spPr>
          <a:xfrm>
            <a:off x="769025" y="622697"/>
            <a:ext cx="10012680" cy="68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300"/>
              <a:buFont typeface="DM Sans"/>
              <a:buNone/>
            </a:pPr>
            <a:r>
              <a:rPr b="0" i="0" lang="en-US" sz="430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Label Engineering: Abnormal Volatility</a:t>
            </a:r>
            <a:endParaRPr b="0" i="0" sz="4300" u="none" cap="none" strike="noStrike"/>
          </a:p>
        </p:txBody>
      </p:sp>
      <p:sp>
        <p:nvSpPr>
          <p:cNvPr id="134" name="Google Shape;134;p24"/>
          <p:cNvSpPr/>
          <p:nvPr/>
        </p:nvSpPr>
        <p:spPr>
          <a:xfrm>
            <a:off x="769025" y="1820108"/>
            <a:ext cx="4233863" cy="207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Targets are not raw price moves but </a:t>
            </a:r>
            <a:r>
              <a:rPr b="1" i="0" lang="en-US" sz="17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abnormal volatility</a:t>
            </a:r>
            <a:r>
              <a:rPr b="0" i="0" lang="en-US" sz="17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— the idiosyncratic component unexplained by market co-movement. This isolates firm-specific information revelation from systemic noise.</a:t>
            </a:r>
            <a:endParaRPr b="0" i="0" sz="1700" u="none" cap="none" strike="noStrike"/>
          </a:p>
        </p:txBody>
      </p:sp>
      <p:pic>
        <p:nvPicPr>
          <p:cNvPr descr="preencoded.png" id="135" name="Google Shape;1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104" y="2442805"/>
            <a:ext cx="8225076" cy="3764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64193" y="3382645"/>
            <a:ext cx="528824" cy="5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11893043" y="5313187"/>
            <a:ext cx="1544169" cy="297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50"/>
              <a:buFont typeface="DM Sans"/>
              <a:buNone/>
            </a:pPr>
            <a:r>
              <a:rPr b="0" i="0" lang="en-US" sz="18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Target Labels</a:t>
            </a:r>
            <a:endParaRPr b="0" i="0" sz="1850" u="none" cap="none" strike="noStrike"/>
          </a:p>
        </p:txBody>
      </p:sp>
      <p:pic>
        <p:nvPicPr>
          <p:cNvPr descr="preencoded.png" id="138" name="Google Shape;13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8198" y="3383637"/>
            <a:ext cx="528824" cy="5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/>
          <p:nvPr/>
        </p:nvSpPr>
        <p:spPr>
          <a:xfrm>
            <a:off x="9946967" y="5164455"/>
            <a:ext cx="1544170" cy="59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50"/>
              <a:buFont typeface="DM Sans"/>
              <a:buNone/>
            </a:pPr>
            <a:r>
              <a:rPr b="0" i="0" lang="en-US" sz="18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Compute Residuals</a:t>
            </a:r>
            <a:endParaRPr b="0" i="0" sz="1850" u="none" cap="none" strike="noStrike"/>
          </a:p>
        </p:txBody>
      </p:sp>
      <p:pic>
        <p:nvPicPr>
          <p:cNvPr descr="preencoded.png" id="140" name="Google Shape;14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2698" y="3383637"/>
            <a:ext cx="528824" cy="5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/>
          <p:nvPr/>
        </p:nvSpPr>
        <p:spPr>
          <a:xfrm>
            <a:off x="8011467" y="5164455"/>
            <a:ext cx="1544169" cy="59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50"/>
              <a:buFont typeface="DM Sans"/>
              <a:buNone/>
            </a:pPr>
            <a:r>
              <a:rPr b="0" i="0" lang="en-US" sz="18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Market Regression</a:t>
            </a:r>
            <a:endParaRPr b="0" i="0" sz="1850" u="none" cap="none" strike="noStrike"/>
          </a:p>
        </p:txBody>
      </p:sp>
      <p:pic>
        <p:nvPicPr>
          <p:cNvPr descr="preencoded.png" id="142" name="Google Shape;14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6622" y="3383637"/>
            <a:ext cx="528825" cy="5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/>
          <p:nvPr/>
        </p:nvSpPr>
        <p:spPr>
          <a:xfrm>
            <a:off x="6033661" y="5164455"/>
            <a:ext cx="1544169" cy="59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50"/>
              <a:buFont typeface="DM Sans"/>
              <a:buNone/>
            </a:pPr>
            <a:r>
              <a:rPr b="0" i="0" lang="en-US" sz="18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Estimation Window</a:t>
            </a:r>
            <a:endParaRPr b="0" i="0" sz="1850" u="none" cap="none" strike="noStrike"/>
          </a:p>
        </p:txBody>
      </p:sp>
      <p:sp>
        <p:nvSpPr>
          <p:cNvPr id="144" name="Google Shape;144;p24"/>
          <p:cNvSpPr/>
          <p:nvPr/>
        </p:nvSpPr>
        <p:spPr>
          <a:xfrm>
            <a:off x="769025" y="7260788"/>
            <a:ext cx="13092351" cy="34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Market model:  — target is  over the post-event window.</a:t>
            </a:r>
            <a:endParaRPr b="0" i="0" sz="1700" u="none" cap="none" strike="noStrike"/>
          </a:p>
        </p:txBody>
      </p:sp>
      <p:sp>
        <p:nvSpPr>
          <p:cNvPr id="145" name="Google Shape;145;p24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/>
          <p:nvPr/>
        </p:nvSpPr>
        <p:spPr>
          <a:xfrm>
            <a:off x="1446014" y="527566"/>
            <a:ext cx="8297347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300"/>
              <a:buFont typeface="DM Sans"/>
              <a:buNone/>
            </a:pPr>
            <a:r>
              <a:rPr b="0" i="0" lang="en-US" sz="330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Model Architecture: Cross-Modal Fusion</a:t>
            </a:r>
            <a:endParaRPr b="0" i="0" sz="3300" u="none" cap="none" strike="noStrike"/>
          </a:p>
        </p:txBody>
      </p:sp>
      <p:pic>
        <p:nvPicPr>
          <p:cNvPr descr="preencoded.png" id="152" name="Google Shape;1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578" y="1393984"/>
            <a:ext cx="3874413" cy="581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/>
          <p:nvPr/>
        </p:nvSpPr>
        <p:spPr>
          <a:xfrm>
            <a:off x="1446014" y="7349014"/>
            <a:ext cx="566154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sp>
        <p:nvSpPr>
          <p:cNvPr id="154" name="Google Shape;154;p25"/>
          <p:cNvSpPr/>
          <p:nvPr/>
        </p:nvSpPr>
        <p:spPr>
          <a:xfrm>
            <a:off x="7530227" y="2585085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Key Design Choices</a:t>
            </a:r>
            <a:endParaRPr b="0" i="0" sz="1650" u="none" cap="none" strike="noStrike"/>
          </a:p>
        </p:txBody>
      </p:sp>
      <p:sp>
        <p:nvSpPr>
          <p:cNvPr id="155" name="Google Shape;155;p25"/>
          <p:cNvSpPr/>
          <p:nvPr/>
        </p:nvSpPr>
        <p:spPr>
          <a:xfrm>
            <a:off x="7530227" y="3084671"/>
            <a:ext cx="85011" cy="85011"/>
          </a:xfrm>
          <a:prstGeom prst="roundRect">
            <a:avLst>
              <a:gd fmla="val 537813" name="adj"/>
            </a:avLst>
          </a:prstGeom>
          <a:solidFill>
            <a:srgbClr val="1C97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7742753" y="2994303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Feature Projections</a:t>
            </a:r>
            <a:endParaRPr b="0" i="0" sz="1650" u="none" cap="none" strike="noStrike"/>
          </a:p>
        </p:txBody>
      </p:sp>
      <p:sp>
        <p:nvSpPr>
          <p:cNvPr id="157" name="Google Shape;157;p25"/>
          <p:cNvSpPr/>
          <p:nvPr/>
        </p:nvSpPr>
        <p:spPr>
          <a:xfrm>
            <a:off x="7742753" y="3387566"/>
            <a:ext cx="54490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Linear + LayerNorm + GELU maps all modalities into a shared hidden space (hidden_dim=256).</a:t>
            </a:r>
            <a:endParaRPr b="0" i="0" sz="1300" u="none" cap="none" strike="noStrike"/>
          </a:p>
        </p:txBody>
      </p:sp>
      <p:sp>
        <p:nvSpPr>
          <p:cNvPr id="158" name="Google Shape;158;p25"/>
          <p:cNvSpPr/>
          <p:nvPr/>
        </p:nvSpPr>
        <p:spPr>
          <a:xfrm>
            <a:off x="7530227" y="4209336"/>
            <a:ext cx="85011" cy="85011"/>
          </a:xfrm>
          <a:prstGeom prst="roundRect">
            <a:avLst>
              <a:gd fmla="val 537813" name="adj"/>
            </a:avLst>
          </a:prstGeom>
          <a:solidFill>
            <a:srgbClr val="1C97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7742753" y="4118967"/>
            <a:ext cx="2358509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Cross-Modal Attention</a:t>
            </a:r>
            <a:endParaRPr b="0" i="0" sz="1650" u="none" cap="none" strike="noStrike"/>
          </a:p>
        </p:txBody>
      </p:sp>
      <p:sp>
        <p:nvSpPr>
          <p:cNvPr id="160" name="Google Shape;160;p25"/>
          <p:cNvSpPr/>
          <p:nvPr/>
        </p:nvSpPr>
        <p:spPr>
          <a:xfrm>
            <a:off x="7742753" y="4512231"/>
            <a:ext cx="5449014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Text as Query attends to Acoustic and wav2vec2 features — detecting acoustic anomalies co-occurring with specific textual segments.</a:t>
            </a:r>
            <a:endParaRPr b="0" i="0" sz="1300" u="none" cap="none" strike="noStrike"/>
          </a:p>
        </p:txBody>
      </p:sp>
      <p:sp>
        <p:nvSpPr>
          <p:cNvPr id="161" name="Google Shape;161;p25"/>
          <p:cNvSpPr/>
          <p:nvPr/>
        </p:nvSpPr>
        <p:spPr>
          <a:xfrm>
            <a:off x="7530227" y="5572125"/>
            <a:ext cx="85011" cy="85011"/>
          </a:xfrm>
          <a:prstGeom prst="roundRect">
            <a:avLst>
              <a:gd fmla="val 537813" name="adj"/>
            </a:avLst>
          </a:prstGeom>
          <a:solidFill>
            <a:srgbClr val="1C97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7742753" y="548175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650"/>
              <a:buFont typeface="DM Sans"/>
              <a:buNone/>
            </a:pPr>
            <a:r>
              <a:rPr b="0" i="0" lang="en-US" sz="16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Multi-Task Head</a:t>
            </a:r>
            <a:endParaRPr b="0" i="0" sz="1650" u="none" cap="none" strike="noStrike"/>
          </a:p>
        </p:txBody>
      </p:sp>
      <p:sp>
        <p:nvSpPr>
          <p:cNvPr id="163" name="Google Shape;163;p25"/>
          <p:cNvSpPr/>
          <p:nvPr/>
        </p:nvSpPr>
        <p:spPr>
          <a:xfrm>
            <a:off x="7742753" y="5875020"/>
            <a:ext cx="5449014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Single MLP jointly predicts 1-, 3-, and 7-day volatility, sharing representations across horizons.</a:t>
            </a:r>
            <a:endParaRPr b="0" i="0" sz="1300" u="none" cap="none" strike="noStrike"/>
          </a:p>
        </p:txBody>
      </p:sp>
      <p:sp>
        <p:nvSpPr>
          <p:cNvPr id="164" name="Google Shape;164;p25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793790" y="75950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Training Strategy</a:t>
            </a:r>
            <a:endParaRPr b="0" i="0" sz="4450" u="none" cap="none" strike="noStrike"/>
          </a:p>
        </p:txBody>
      </p:sp>
      <p:sp>
        <p:nvSpPr>
          <p:cNvPr id="171" name="Google Shape;171;p26"/>
          <p:cNvSpPr/>
          <p:nvPr/>
        </p:nvSpPr>
        <p:spPr>
          <a:xfrm>
            <a:off x="793790" y="2262068"/>
            <a:ext cx="6407944" cy="2320528"/>
          </a:xfrm>
          <a:prstGeom prst="roundRect">
            <a:avLst>
              <a:gd fmla="val 1466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824270" y="2292548"/>
            <a:ext cx="6346984" cy="226814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1051084" y="27461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HuberRank Loss</a:t>
            </a:r>
            <a:endParaRPr b="0" i="0" sz="2200" u="none" cap="none" strike="noStrike"/>
          </a:p>
        </p:txBody>
      </p:sp>
      <p:sp>
        <p:nvSpPr>
          <p:cNvPr id="174" name="Google Shape;174;p26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Combines Huber regression loss with a differentiable Spearman/Pearson correlation term — prioritising </a:t>
            </a:r>
            <a:r>
              <a:rPr b="1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relative ranking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of volatility over absolute magnitude.</a:t>
            </a:r>
            <a:endParaRPr b="0" i="0" sz="1750" u="none" cap="none" strike="noStrike"/>
          </a:p>
        </p:txBody>
      </p:sp>
      <p:sp>
        <p:nvSpPr>
          <p:cNvPr id="175" name="Google Shape;175;p26"/>
          <p:cNvSpPr/>
          <p:nvPr/>
        </p:nvSpPr>
        <p:spPr>
          <a:xfrm>
            <a:off x="7428548" y="1921907"/>
            <a:ext cx="6408063" cy="2660690"/>
          </a:xfrm>
          <a:prstGeom prst="roundRect">
            <a:avLst>
              <a:gd fmla="val 1279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7459027" y="1952387"/>
            <a:ext cx="6347103" cy="226814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7685842" y="24060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Optimisation</a:t>
            </a:r>
            <a:endParaRPr b="0" i="0" sz="2200" u="none" cap="none" strike="noStrike"/>
          </a:p>
        </p:txBody>
      </p:sp>
      <p:sp>
        <p:nvSpPr>
          <p:cNvPr id="178" name="Google Shape;178;p26"/>
          <p:cNvSpPr/>
          <p:nvPr/>
        </p:nvSpPr>
        <p:spPr>
          <a:xfrm>
            <a:off x="7685842" y="2896433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AdamW optimiser at </a:t>
            </a:r>
            <a:r>
              <a:rPr b="1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lr=1e-4</a:t>
            </a: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with Cosine Annealing schedule for smooth convergence across multi-task targets.</a:t>
            </a:r>
            <a:endParaRPr b="0" i="0" sz="1750" u="none" cap="none" strike="noStrike"/>
          </a:p>
        </p:txBody>
      </p:sp>
      <p:sp>
        <p:nvSpPr>
          <p:cNvPr id="179" name="Google Shape;179;p26"/>
          <p:cNvSpPr/>
          <p:nvPr/>
        </p:nvSpPr>
        <p:spPr>
          <a:xfrm>
            <a:off x="793790" y="5149572"/>
            <a:ext cx="6407944" cy="2320528"/>
          </a:xfrm>
          <a:prstGeom prst="roundRect">
            <a:avLst>
              <a:gd fmla="val 1466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824270" y="5180052"/>
            <a:ext cx="6346984" cy="226814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1051084" y="563368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Temporal Validation</a:t>
            </a:r>
            <a:endParaRPr b="0" i="0" sz="2200" u="none" cap="none" strike="noStrike"/>
          </a:p>
        </p:txBody>
      </p:sp>
      <p:sp>
        <p:nvSpPr>
          <p:cNvPr id="182" name="Google Shape;182;p26"/>
          <p:cNvSpPr/>
          <p:nvPr/>
        </p:nvSpPr>
        <p:spPr>
          <a:xfrm>
            <a:off x="1051084" y="6124099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Strict train/val split at 2017–2018 boundary. No look-ahead bias — all future data is withheld during training.</a:t>
            </a:r>
            <a:endParaRPr b="0" i="0" sz="1750" u="none" cap="none" strike="noStrike"/>
          </a:p>
        </p:txBody>
      </p:sp>
      <p:sp>
        <p:nvSpPr>
          <p:cNvPr id="183" name="Google Shape;183;p26"/>
          <p:cNvSpPr/>
          <p:nvPr/>
        </p:nvSpPr>
        <p:spPr>
          <a:xfrm>
            <a:off x="7428548" y="4809411"/>
            <a:ext cx="6408063" cy="2660690"/>
          </a:xfrm>
          <a:prstGeom prst="roundRect">
            <a:avLst>
              <a:gd fmla="val 1279" name="adj"/>
            </a:avLst>
          </a:prstGeom>
          <a:solidFill>
            <a:srgbClr val="FFFFFF"/>
          </a:solidFill>
          <a:ln cap="flat" cmpd="sng" w="3047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7459027" y="4839891"/>
            <a:ext cx="6347103" cy="226814"/>
          </a:xfrm>
          <a:prstGeom prst="rect">
            <a:avLst/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7685842" y="52935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200"/>
              <a:buFont typeface="DM Sans"/>
              <a:buNone/>
            </a:pPr>
            <a:r>
              <a:rPr b="0" i="0" lang="en-US" sz="22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5-Seed Ensemble</a:t>
            </a:r>
            <a:endParaRPr b="0" i="0" sz="2200" u="none" cap="none" strike="noStrike"/>
          </a:p>
        </p:txBody>
      </p:sp>
      <p:sp>
        <p:nvSpPr>
          <p:cNvPr id="186" name="Google Shape;186;p26"/>
          <p:cNvSpPr/>
          <p:nvPr/>
        </p:nvSpPr>
        <p:spPr>
          <a:xfrm>
            <a:off x="7685842" y="5783937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Ensemble over five random seeds stabilises Spearman ρ and reduces variance in rank correlation across test folds.</a:t>
            </a:r>
            <a:endParaRPr b="0" i="0" sz="1750" u="none" cap="none" strike="noStrike"/>
          </a:p>
        </p:txBody>
      </p:sp>
      <p:sp>
        <p:nvSpPr>
          <p:cNvPr id="187" name="Google Shape;187;p26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/>
          <p:nvPr/>
        </p:nvSpPr>
        <p:spPr>
          <a:xfrm>
            <a:off x="694611" y="576382"/>
            <a:ext cx="5034796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900"/>
              <a:buFont typeface="DM Sans"/>
              <a:buNone/>
            </a:pPr>
            <a:r>
              <a:rPr b="0" i="0" lang="en-US" sz="390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Experimental Results</a:t>
            </a:r>
            <a:endParaRPr b="0" i="0" sz="3900" u="none" cap="none" strike="noStrike"/>
          </a:p>
        </p:txBody>
      </p:sp>
      <p:sp>
        <p:nvSpPr>
          <p:cNvPr id="194" name="Google Shape;194;p27"/>
          <p:cNvSpPr/>
          <p:nvPr/>
        </p:nvSpPr>
        <p:spPr>
          <a:xfrm>
            <a:off x="694611" y="1543764"/>
            <a:ext cx="13241179" cy="2651998"/>
          </a:xfrm>
          <a:prstGeom prst="roundRect">
            <a:avLst>
              <a:gd fmla="val 1123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/>
          <p:nvPr/>
        </p:nvSpPr>
        <p:spPr>
          <a:xfrm>
            <a:off x="900589" y="1663184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Model Variant</a:t>
            </a:r>
            <a:endParaRPr b="0" i="0" sz="1550" u="none" cap="none" strike="noStrike"/>
          </a:p>
        </p:txBody>
      </p:sp>
      <p:sp>
        <p:nvSpPr>
          <p:cNvPr id="196" name="Google Shape;196;p27"/>
          <p:cNvSpPr/>
          <p:nvPr/>
        </p:nvSpPr>
        <p:spPr>
          <a:xfrm>
            <a:off x="4210883" y="1663184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Spearman ρ</a:t>
            </a:r>
            <a:endParaRPr b="0" i="0" sz="1550" u="none" cap="none" strike="noStrike"/>
          </a:p>
        </p:txBody>
      </p:sp>
      <p:sp>
        <p:nvSpPr>
          <p:cNvPr id="197" name="Google Shape;197;p27"/>
          <p:cNvSpPr/>
          <p:nvPr/>
        </p:nvSpPr>
        <p:spPr>
          <a:xfrm>
            <a:off x="7517368" y="1663184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Top-Quartile Hit Rate</a:t>
            </a:r>
            <a:endParaRPr b="0" i="0" sz="1550" u="none" cap="none" strike="noStrike"/>
          </a:p>
        </p:txBody>
      </p:sp>
      <p:sp>
        <p:nvSpPr>
          <p:cNvPr id="198" name="Google Shape;198;p27"/>
          <p:cNvSpPr/>
          <p:nvPr/>
        </p:nvSpPr>
        <p:spPr>
          <a:xfrm>
            <a:off x="10823853" y="1663184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vs. Baseline</a:t>
            </a:r>
            <a:endParaRPr b="0" i="0" sz="1550" u="none" cap="none" strike="noStrike"/>
          </a:p>
        </p:txBody>
      </p:sp>
      <p:sp>
        <p:nvSpPr>
          <p:cNvPr id="199" name="Google Shape;199;p27"/>
          <p:cNvSpPr/>
          <p:nvPr/>
        </p:nvSpPr>
        <p:spPr>
          <a:xfrm>
            <a:off x="900589" y="2192060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Cross-Modal Fusion</a:t>
            </a:r>
            <a:endParaRPr b="0" i="0" sz="1550" u="none" cap="none" strike="noStrike"/>
          </a:p>
        </p:txBody>
      </p:sp>
      <p:sp>
        <p:nvSpPr>
          <p:cNvPr id="200" name="Google Shape;200;p27"/>
          <p:cNvSpPr/>
          <p:nvPr/>
        </p:nvSpPr>
        <p:spPr>
          <a:xfrm>
            <a:off x="4210883" y="2192060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0.42</a:t>
            </a:r>
            <a:endParaRPr b="0" i="0" sz="1550" u="none" cap="none" strike="noStrike"/>
          </a:p>
        </p:txBody>
      </p:sp>
      <p:sp>
        <p:nvSpPr>
          <p:cNvPr id="201" name="Google Shape;201;p27"/>
          <p:cNvSpPr/>
          <p:nvPr/>
        </p:nvSpPr>
        <p:spPr>
          <a:xfrm>
            <a:off x="7517368" y="2192060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68%</a:t>
            </a:r>
            <a:endParaRPr b="0" i="0" sz="1550" u="none" cap="none" strike="noStrike"/>
          </a:p>
        </p:txBody>
      </p:sp>
      <p:sp>
        <p:nvSpPr>
          <p:cNvPr id="202" name="Google Shape;202;p27"/>
          <p:cNvSpPr/>
          <p:nvPr/>
        </p:nvSpPr>
        <p:spPr>
          <a:xfrm>
            <a:off x="10823853" y="2192060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+35%</a:t>
            </a:r>
            <a:endParaRPr b="0" i="0" sz="1550" u="none" cap="none" strike="noStrike"/>
          </a:p>
        </p:txBody>
      </p:sp>
      <p:sp>
        <p:nvSpPr>
          <p:cNvPr id="203" name="Google Shape;203;p27"/>
          <p:cNvSpPr/>
          <p:nvPr/>
        </p:nvSpPr>
        <p:spPr>
          <a:xfrm>
            <a:off x="900589" y="2720935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Early Fusion (Concat)</a:t>
            </a:r>
            <a:endParaRPr b="0" i="0" sz="1550" u="none" cap="none" strike="noStrike"/>
          </a:p>
        </p:txBody>
      </p:sp>
      <p:sp>
        <p:nvSpPr>
          <p:cNvPr id="204" name="Google Shape;204;p27"/>
          <p:cNvSpPr/>
          <p:nvPr/>
        </p:nvSpPr>
        <p:spPr>
          <a:xfrm>
            <a:off x="4210883" y="2720935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0.38</a:t>
            </a:r>
            <a:endParaRPr b="0" i="0" sz="1550" u="none" cap="none" strike="noStrike"/>
          </a:p>
        </p:txBody>
      </p:sp>
      <p:sp>
        <p:nvSpPr>
          <p:cNvPr id="205" name="Google Shape;205;p27"/>
          <p:cNvSpPr/>
          <p:nvPr/>
        </p:nvSpPr>
        <p:spPr>
          <a:xfrm>
            <a:off x="7517368" y="2720935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64%</a:t>
            </a:r>
            <a:endParaRPr b="0" i="0" sz="1550" u="none" cap="none" strike="noStrike"/>
          </a:p>
        </p:txBody>
      </p:sp>
      <p:sp>
        <p:nvSpPr>
          <p:cNvPr id="206" name="Google Shape;206;p27"/>
          <p:cNvSpPr/>
          <p:nvPr/>
        </p:nvSpPr>
        <p:spPr>
          <a:xfrm>
            <a:off x="10823853" y="2720935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+22%</a:t>
            </a:r>
            <a:endParaRPr b="0" i="0" sz="1550" u="none" cap="none" strike="noStrike"/>
          </a:p>
        </p:txBody>
      </p:sp>
      <p:sp>
        <p:nvSpPr>
          <p:cNvPr id="207" name="Google Shape;207;p27"/>
          <p:cNvSpPr/>
          <p:nvPr/>
        </p:nvSpPr>
        <p:spPr>
          <a:xfrm>
            <a:off x="900589" y="3249811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Text-Only (FinBERT)</a:t>
            </a:r>
            <a:endParaRPr b="0" i="0" sz="1550" u="none" cap="none" strike="noStrike"/>
          </a:p>
        </p:txBody>
      </p:sp>
      <p:sp>
        <p:nvSpPr>
          <p:cNvPr id="208" name="Google Shape;208;p27"/>
          <p:cNvSpPr/>
          <p:nvPr/>
        </p:nvSpPr>
        <p:spPr>
          <a:xfrm>
            <a:off x="4210883" y="3249811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0.31</a:t>
            </a:r>
            <a:endParaRPr b="0" i="0" sz="1550" u="none" cap="none" strike="noStrike"/>
          </a:p>
        </p:txBody>
      </p:sp>
      <p:sp>
        <p:nvSpPr>
          <p:cNvPr id="209" name="Google Shape;209;p27"/>
          <p:cNvSpPr/>
          <p:nvPr/>
        </p:nvSpPr>
        <p:spPr>
          <a:xfrm>
            <a:off x="7517368" y="3249811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58%</a:t>
            </a:r>
            <a:endParaRPr b="0" i="0" sz="1550" u="none" cap="none" strike="noStrike"/>
          </a:p>
        </p:txBody>
      </p:sp>
      <p:sp>
        <p:nvSpPr>
          <p:cNvPr id="210" name="Google Shape;210;p27"/>
          <p:cNvSpPr/>
          <p:nvPr/>
        </p:nvSpPr>
        <p:spPr>
          <a:xfrm>
            <a:off x="10823853" y="3249811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Base</a:t>
            </a:r>
            <a:endParaRPr b="0" i="0" sz="1550" u="none" cap="none" strike="noStrike"/>
          </a:p>
        </p:txBody>
      </p:sp>
      <p:sp>
        <p:nvSpPr>
          <p:cNvPr id="211" name="Google Shape;211;p27"/>
          <p:cNvSpPr/>
          <p:nvPr/>
        </p:nvSpPr>
        <p:spPr>
          <a:xfrm>
            <a:off x="900589" y="3778687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Audio-Only (Acoustic)</a:t>
            </a:r>
            <a:endParaRPr b="0" i="0" sz="1550" u="none" cap="none" strike="noStrike"/>
          </a:p>
        </p:txBody>
      </p:sp>
      <p:sp>
        <p:nvSpPr>
          <p:cNvPr id="212" name="Google Shape;212;p27"/>
          <p:cNvSpPr/>
          <p:nvPr/>
        </p:nvSpPr>
        <p:spPr>
          <a:xfrm>
            <a:off x="4210883" y="3778687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0.24</a:t>
            </a:r>
            <a:endParaRPr b="0" i="0" sz="1550" u="none" cap="none" strike="noStrike"/>
          </a:p>
        </p:txBody>
      </p:sp>
      <p:sp>
        <p:nvSpPr>
          <p:cNvPr id="213" name="Google Shape;213;p27"/>
          <p:cNvSpPr/>
          <p:nvPr/>
        </p:nvSpPr>
        <p:spPr>
          <a:xfrm>
            <a:off x="7517368" y="3778687"/>
            <a:ext cx="290214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52%</a:t>
            </a:r>
            <a:endParaRPr b="0" i="0" sz="1550" u="none" cap="none" strike="noStrike"/>
          </a:p>
        </p:txBody>
      </p:sp>
      <p:sp>
        <p:nvSpPr>
          <p:cNvPr id="214" name="Google Shape;214;p27"/>
          <p:cNvSpPr/>
          <p:nvPr/>
        </p:nvSpPr>
        <p:spPr>
          <a:xfrm>
            <a:off x="10823853" y="3778687"/>
            <a:ext cx="2905958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550" u="none" cap="none" strike="noStrike"/>
          </a:p>
        </p:txBody>
      </p:sp>
      <p:sp>
        <p:nvSpPr>
          <p:cNvPr id="215" name="Google Shape;215;p27"/>
          <p:cNvSpPr/>
          <p:nvPr/>
        </p:nvSpPr>
        <p:spPr>
          <a:xfrm>
            <a:off x="694611" y="4490204"/>
            <a:ext cx="4268986" cy="65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5150"/>
              <a:buFont typeface="DM Sans"/>
              <a:buNone/>
            </a:pPr>
            <a:r>
              <a:rPr b="0" i="0" lang="en-US" sz="51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0.42</a:t>
            </a:r>
            <a:endParaRPr b="0" i="0" sz="5150" u="none" cap="none" strike="noStrike"/>
          </a:p>
        </p:txBody>
      </p:sp>
      <p:sp>
        <p:nvSpPr>
          <p:cNvPr id="216" name="Google Shape;216;p27"/>
          <p:cNvSpPr/>
          <p:nvPr/>
        </p:nvSpPr>
        <p:spPr>
          <a:xfrm>
            <a:off x="1588651" y="537448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950"/>
              <a:buFont typeface="DM Sans"/>
              <a:buNone/>
            </a:pPr>
            <a:r>
              <a:rPr b="0" i="0" lang="en-US" sz="19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Spearman ρ</a:t>
            </a:r>
            <a:endParaRPr b="0" i="0" sz="1950" u="none" cap="none" strike="noStrike"/>
          </a:p>
        </p:txBody>
      </p:sp>
      <p:sp>
        <p:nvSpPr>
          <p:cNvPr id="217" name="Google Shape;217;p27"/>
          <p:cNvSpPr/>
          <p:nvPr/>
        </p:nvSpPr>
        <p:spPr>
          <a:xfrm>
            <a:off x="694611" y="5788819"/>
            <a:ext cx="4268986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Best rank correlation, Cross-Modal Fusion</a:t>
            </a:r>
            <a:endParaRPr b="0" i="0" sz="1550" u="none" cap="none" strike="noStrike"/>
          </a:p>
        </p:txBody>
      </p:sp>
      <p:sp>
        <p:nvSpPr>
          <p:cNvPr id="218" name="Google Shape;218;p27"/>
          <p:cNvSpPr/>
          <p:nvPr/>
        </p:nvSpPr>
        <p:spPr>
          <a:xfrm>
            <a:off x="5180648" y="4490204"/>
            <a:ext cx="4268986" cy="65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5150"/>
              <a:buFont typeface="DM Sans"/>
              <a:buNone/>
            </a:pPr>
            <a:r>
              <a:rPr b="0" i="0" lang="en-US" sz="51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+35%</a:t>
            </a:r>
            <a:endParaRPr b="0" i="0" sz="5150" u="none" cap="none" strike="noStrike"/>
          </a:p>
        </p:txBody>
      </p:sp>
      <p:sp>
        <p:nvSpPr>
          <p:cNvPr id="219" name="Google Shape;219;p27"/>
          <p:cNvSpPr/>
          <p:nvPr/>
        </p:nvSpPr>
        <p:spPr>
          <a:xfrm>
            <a:off x="6074688" y="537448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950"/>
              <a:buFont typeface="DM Sans"/>
              <a:buNone/>
            </a:pPr>
            <a:r>
              <a:rPr b="0" i="0" lang="en-US" sz="19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Hit Rate Lift</a:t>
            </a:r>
            <a:endParaRPr b="0" i="0" sz="1950" u="none" cap="none" strike="noStrike"/>
          </a:p>
        </p:txBody>
      </p:sp>
      <p:sp>
        <p:nvSpPr>
          <p:cNvPr id="220" name="Google Shape;220;p27"/>
          <p:cNvSpPr/>
          <p:nvPr/>
        </p:nvSpPr>
        <p:spPr>
          <a:xfrm>
            <a:off x="5180648" y="5788819"/>
            <a:ext cx="4268986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Over FinBERT text-only baseline</a:t>
            </a:r>
            <a:endParaRPr b="0" i="0" sz="1550" u="none" cap="none" strike="noStrike"/>
          </a:p>
        </p:txBody>
      </p:sp>
      <p:sp>
        <p:nvSpPr>
          <p:cNvPr id="221" name="Google Shape;221;p27"/>
          <p:cNvSpPr/>
          <p:nvPr/>
        </p:nvSpPr>
        <p:spPr>
          <a:xfrm>
            <a:off x="9666684" y="4490204"/>
            <a:ext cx="4268986" cy="65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5150"/>
              <a:buFont typeface="DM Sans"/>
              <a:buNone/>
            </a:pPr>
            <a:r>
              <a:rPr b="0" i="0" lang="en-US" sz="51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68%</a:t>
            </a:r>
            <a:endParaRPr b="0" i="0" sz="5150" u="none" cap="none" strike="noStrike"/>
          </a:p>
        </p:txBody>
      </p:sp>
      <p:sp>
        <p:nvSpPr>
          <p:cNvPr id="222" name="Google Shape;222;p27"/>
          <p:cNvSpPr/>
          <p:nvPr/>
        </p:nvSpPr>
        <p:spPr>
          <a:xfrm>
            <a:off x="10560725" y="537448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950"/>
              <a:buFont typeface="DM Sans"/>
              <a:buNone/>
            </a:pPr>
            <a:r>
              <a:rPr b="0" i="0" lang="en-US" sz="195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Top-Quartile</a:t>
            </a:r>
            <a:endParaRPr b="0" i="0" sz="1950" u="none" cap="none" strike="noStrike"/>
          </a:p>
        </p:txBody>
      </p:sp>
      <p:sp>
        <p:nvSpPr>
          <p:cNvPr id="223" name="Google Shape;223;p27"/>
          <p:cNvSpPr/>
          <p:nvPr/>
        </p:nvSpPr>
        <p:spPr>
          <a:xfrm>
            <a:off x="9666684" y="5788819"/>
            <a:ext cx="4268986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Correct identification of high-volatility events</a:t>
            </a:r>
            <a:endParaRPr b="0" i="0" sz="1550" u="none" cap="none" strike="noStrike"/>
          </a:p>
        </p:txBody>
      </p:sp>
      <p:sp>
        <p:nvSpPr>
          <p:cNvPr id="224" name="Google Shape;224;p27"/>
          <p:cNvSpPr/>
          <p:nvPr/>
        </p:nvSpPr>
        <p:spPr>
          <a:xfrm>
            <a:off x="694611" y="6579394"/>
            <a:ext cx="13241179" cy="1073825"/>
          </a:xfrm>
          <a:prstGeom prst="roundRect">
            <a:avLst>
              <a:gd fmla="val 2772" name="adj"/>
            </a:avLst>
          </a:prstGeom>
          <a:solidFill>
            <a:srgbClr val="BEF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969" y="6874669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/>
          <p:nvPr/>
        </p:nvSpPr>
        <p:spPr>
          <a:xfrm>
            <a:off x="1339334" y="6802517"/>
            <a:ext cx="12398097" cy="595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Takeaway</a:t>
            </a:r>
            <a:r>
              <a:rPr b="0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Cross-modal attention significantly outperforms both unimodal and naive fusion baselines — validating the hypothesis that acoustic divergence from language carries independent predictive signal.</a:t>
            </a:r>
            <a:endParaRPr b="0" i="0" sz="1550" u="none" cap="none" strike="noStrike"/>
          </a:p>
        </p:txBody>
      </p:sp>
      <p:sp>
        <p:nvSpPr>
          <p:cNvPr id="227" name="Google Shape;227;p27"/>
          <p:cNvSpPr/>
          <p:nvPr/>
        </p:nvSpPr>
        <p:spPr>
          <a:xfrm>
            <a:off x="12747075" y="7801750"/>
            <a:ext cx="1799400" cy="36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/>
          <p:nvPr/>
        </p:nvSpPr>
        <p:spPr>
          <a:xfrm>
            <a:off x="793790" y="6974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Ablation Study</a:t>
            </a:r>
            <a:endParaRPr b="0" i="0" sz="4450" u="none" cap="none" strike="noStrike"/>
          </a:p>
        </p:txBody>
      </p:sp>
      <p:sp>
        <p:nvSpPr>
          <p:cNvPr id="234" name="Google Shape;234;p28"/>
          <p:cNvSpPr/>
          <p:nvPr/>
        </p:nvSpPr>
        <p:spPr>
          <a:xfrm>
            <a:off x="793790" y="185987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477929"/>
            <a:ext cx="13042821" cy="505408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/>
          <p:nvPr/>
        </p:nvSpPr>
        <p:spPr>
          <a:xfrm>
            <a:off x="706993" y="574358"/>
            <a:ext cx="6354247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950"/>
              <a:buFont typeface="DM Sans"/>
              <a:buNone/>
            </a:pPr>
            <a:r>
              <a:rPr b="1" i="0" lang="en-US" sz="39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Comparison to Prior Work</a:t>
            </a:r>
            <a:endParaRPr b="0" i="0" sz="3950" u="none" cap="none" strike="noStrike"/>
          </a:p>
        </p:txBody>
      </p:sp>
      <p:pic>
        <p:nvPicPr>
          <p:cNvPr descr="preencoded.png" id="243" name="Google Shape;2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4836" y="1565434"/>
            <a:ext cx="9640729" cy="5581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/>
          <p:nvPr/>
        </p:nvSpPr>
        <p:spPr>
          <a:xfrm>
            <a:off x="706993" y="7349728"/>
            <a:ext cx="13216414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245" name="Google Shape;245;p29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/>
          <p:nvPr/>
        </p:nvSpPr>
        <p:spPr>
          <a:xfrm>
            <a:off x="956905" y="556260"/>
            <a:ext cx="7861102" cy="575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600"/>
              <a:buFont typeface="DM Sans"/>
              <a:buNone/>
            </a:pPr>
            <a:r>
              <a:rPr b="0" i="0" lang="en-US" sz="360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Deployment: Flask Web Application</a:t>
            </a:r>
            <a:endParaRPr b="0" i="0" sz="3600" u="none" cap="none" strike="noStrike"/>
          </a:p>
        </p:txBody>
      </p:sp>
      <p:pic>
        <p:nvPicPr>
          <p:cNvPr descr="preencoded.png" id="252" name="Google Shape;25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781" y="1431608"/>
            <a:ext cx="8610719" cy="405836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/>
          <p:nvPr/>
        </p:nvSpPr>
        <p:spPr>
          <a:xfrm>
            <a:off x="956905" y="5714524"/>
            <a:ext cx="4089797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Production-Ready Inference Pipeline</a:t>
            </a:r>
            <a:endParaRPr b="0" i="0" sz="1800" u="none" cap="none" strike="noStrike"/>
          </a:p>
        </p:txBody>
      </p:sp>
      <p:pic>
        <p:nvPicPr>
          <p:cNvPr descr="preencoded.png" id="254" name="Google Shape;25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962" y="6232684"/>
            <a:ext cx="276344" cy="27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0"/>
          <p:cNvSpPr/>
          <p:nvPr/>
        </p:nvSpPr>
        <p:spPr>
          <a:xfrm>
            <a:off x="1555671" y="6226969"/>
            <a:ext cx="2303621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Async Processing</a:t>
            </a:r>
            <a:endParaRPr b="0" i="0" sz="1800" u="none" cap="none" strike="noStrike"/>
          </a:p>
        </p:txBody>
      </p:sp>
      <p:sp>
        <p:nvSpPr>
          <p:cNvPr id="256" name="Google Shape;256;p30"/>
          <p:cNvSpPr/>
          <p:nvPr/>
        </p:nvSpPr>
        <p:spPr>
          <a:xfrm>
            <a:off x="1555671" y="6604635"/>
            <a:ext cx="3515201" cy="801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Long audio files are segmented and sampled for fast, non-blocking inference via background job workers.</a:t>
            </a:r>
            <a:endParaRPr b="0" i="0" sz="1450" u="none" cap="none" strike="noStrike"/>
          </a:p>
        </p:txBody>
      </p:sp>
      <p:pic>
        <p:nvPicPr>
          <p:cNvPr descr="preencoded.png" id="257" name="Google Shape;25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7094" y="6232684"/>
            <a:ext cx="276344" cy="27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/>
          <p:nvPr/>
        </p:nvSpPr>
        <p:spPr>
          <a:xfrm>
            <a:off x="5856803" y="6226969"/>
            <a:ext cx="2303621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Interactive UI</a:t>
            </a:r>
            <a:endParaRPr b="0" i="0" sz="1800" u="none" cap="none" strike="noStrike"/>
          </a:p>
        </p:txBody>
      </p:sp>
      <p:sp>
        <p:nvSpPr>
          <p:cNvPr id="259" name="Google Shape;259;p30"/>
          <p:cNvSpPr/>
          <p:nvPr/>
        </p:nvSpPr>
        <p:spPr>
          <a:xfrm>
            <a:off x="5856803" y="6604635"/>
            <a:ext cx="3515320" cy="1068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Users upload audio and transcripts, then receive real-time volatility risk scores with visual breakdowns per horizon.</a:t>
            </a:r>
            <a:endParaRPr b="0" i="0" sz="1450" u="none" cap="none" strike="noStrike"/>
          </a:p>
        </p:txBody>
      </p:sp>
      <p:pic>
        <p:nvPicPr>
          <p:cNvPr descr="preencoded.png" id="260" name="Google Shape;2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8346" y="6232684"/>
            <a:ext cx="276344" cy="27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/>
          <p:nvPr/>
        </p:nvSpPr>
        <p:spPr>
          <a:xfrm>
            <a:off x="10158055" y="6226969"/>
            <a:ext cx="2303621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Job Tracking</a:t>
            </a:r>
            <a:endParaRPr b="0" i="0" sz="1800" u="none" cap="none" strike="noStrike"/>
          </a:p>
        </p:txBody>
      </p:sp>
      <p:sp>
        <p:nvSpPr>
          <p:cNvPr id="262" name="Google Shape;262;p30"/>
          <p:cNvSpPr/>
          <p:nvPr/>
        </p:nvSpPr>
        <p:spPr>
          <a:xfrm>
            <a:off x="10158055" y="6604635"/>
            <a:ext cx="3515201" cy="1068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Real-time status updates surface progress across feature extraction, model inference, and result delivery stages.</a:t>
            </a:r>
            <a:endParaRPr b="0" i="0" sz="1450" u="none" cap="none" strike="noStrike"/>
          </a:p>
        </p:txBody>
      </p:sp>
      <p:sp>
        <p:nvSpPr>
          <p:cNvPr id="263" name="Google Shape;263;p30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1079183" y="536138"/>
            <a:ext cx="10003393" cy="564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550"/>
              <a:buFont typeface="DM Sans"/>
              <a:buNone/>
            </a:pPr>
            <a:r>
              <a:rPr b="0" i="0" lang="en-US" sz="35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Sample Run on MicroSoft Earning Calls (MSFT)</a:t>
            </a:r>
            <a:endParaRPr b="0" i="0" sz="3550" u="none" cap="none" strike="noStrike"/>
          </a:p>
        </p:txBody>
      </p:sp>
      <p:pic>
        <p:nvPicPr>
          <p:cNvPr descr="preencoded.png" id="270" name="Google Shape;2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183" y="1388864"/>
            <a:ext cx="12471916" cy="588287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/>
          <p:nvPr/>
        </p:nvSpPr>
        <p:spPr>
          <a:xfrm>
            <a:off x="1079183" y="7433667"/>
            <a:ext cx="12471916" cy="259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272" name="Google Shape;272;p31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/>
          <p:nvPr/>
        </p:nvSpPr>
        <p:spPr>
          <a:xfrm>
            <a:off x="1201460" y="520065"/>
            <a:ext cx="6197679" cy="553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450"/>
              <a:buFont typeface="DM Sans"/>
              <a:buNone/>
            </a:pPr>
            <a:r>
              <a:rPr b="0" i="0" lang="en-US" sz="3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Validating the Prediction - 1D</a:t>
            </a:r>
            <a:endParaRPr b="0" i="0" sz="3450" u="none" cap="none" strike="noStrike"/>
          </a:p>
        </p:txBody>
      </p:sp>
      <p:pic>
        <p:nvPicPr>
          <p:cNvPr descr="preencoded.png"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460" y="1350645"/>
            <a:ext cx="12227362" cy="59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/>
          <p:nvPr/>
        </p:nvSpPr>
        <p:spPr>
          <a:xfrm>
            <a:off x="1201460" y="7457003"/>
            <a:ext cx="1222736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t/>
            </a:r>
            <a:endParaRPr b="0" i="0" sz="1350" u="none" cap="none" strike="noStrike"/>
          </a:p>
        </p:txBody>
      </p:sp>
      <p:sp>
        <p:nvSpPr>
          <p:cNvPr id="281" name="Google Shape;281;p32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/>
          <p:nvPr/>
        </p:nvSpPr>
        <p:spPr>
          <a:xfrm>
            <a:off x="712351" y="526733"/>
            <a:ext cx="6814304" cy="598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750"/>
              <a:buFont typeface="DM Sans"/>
              <a:buNone/>
            </a:pPr>
            <a:r>
              <a:rPr b="0" i="0" lang="en-US" sz="37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Validating the Prediction - 3D</a:t>
            </a:r>
            <a:endParaRPr b="0" i="0" sz="3750" u="none" cap="none" strike="noStrike"/>
          </a:p>
        </p:txBody>
      </p:sp>
      <p:pic>
        <p:nvPicPr>
          <p:cNvPr descr="preencoded.png" id="288" name="Google Shape;28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51" y="1447681"/>
            <a:ext cx="13205579" cy="625518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3"/>
          <p:cNvSpPr/>
          <p:nvPr/>
        </p:nvSpPr>
        <p:spPr>
          <a:xfrm>
            <a:off x="12747075" y="7801750"/>
            <a:ext cx="1799400" cy="36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/>
          <p:nvPr/>
        </p:nvSpPr>
        <p:spPr>
          <a:xfrm>
            <a:off x="1079183" y="538758"/>
            <a:ext cx="6407587" cy="564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550"/>
              <a:buFont typeface="DM Sans"/>
              <a:buNone/>
            </a:pPr>
            <a:r>
              <a:rPr b="0" i="0" lang="en-US" sz="35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Validating the Prediction - 7D</a:t>
            </a:r>
            <a:endParaRPr b="0" i="0" sz="3550" u="none" cap="none" strike="noStrike"/>
          </a:p>
        </p:txBody>
      </p:sp>
      <p:pic>
        <p:nvPicPr>
          <p:cNvPr descr="preencoded.png" id="296" name="Google Shape;29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183" y="1391483"/>
            <a:ext cx="12471916" cy="587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4"/>
          <p:cNvSpPr/>
          <p:nvPr/>
        </p:nvSpPr>
        <p:spPr>
          <a:xfrm>
            <a:off x="1079183" y="7430929"/>
            <a:ext cx="12471916" cy="259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298" name="Google Shape;298;p34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"/>
          <p:cNvSpPr/>
          <p:nvPr/>
        </p:nvSpPr>
        <p:spPr>
          <a:xfrm>
            <a:off x="834628" y="558046"/>
            <a:ext cx="6397943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650"/>
              <a:buFont typeface="DM Sans"/>
              <a:buNone/>
            </a:pPr>
            <a:r>
              <a:rPr b="0" i="0" lang="en-US" sz="36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Limitations and Future Work</a:t>
            </a:r>
            <a:endParaRPr b="0" i="0" sz="3650" u="none" cap="none" strike="noStrike"/>
          </a:p>
        </p:txBody>
      </p:sp>
      <p:pic>
        <p:nvPicPr>
          <p:cNvPr descr="preencoded.png" id="305" name="Google Shape;3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046" y="1456134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5"/>
          <p:cNvSpPr/>
          <p:nvPr/>
        </p:nvSpPr>
        <p:spPr>
          <a:xfrm>
            <a:off x="834628" y="2491978"/>
            <a:ext cx="3094434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Data Scarcity &amp; Survivorship Bias</a:t>
            </a:r>
            <a:endParaRPr b="0" i="0" sz="1800" u="none" cap="none" strike="noStrike"/>
          </a:p>
        </p:txBody>
      </p:sp>
      <p:sp>
        <p:nvSpPr>
          <p:cNvPr id="307" name="Google Shape;307;p35"/>
          <p:cNvSpPr/>
          <p:nvPr/>
        </p:nvSpPr>
        <p:spPr>
          <a:xfrm>
            <a:off x="834628" y="3172182"/>
            <a:ext cx="3094434" cy="1373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Public earnings-call datasets remain limited to large-cap U.S. equities and narrow time windows, constraining generalisability.</a:t>
            </a:r>
            <a:endParaRPr b="0" i="0" sz="1450" u="none" cap="none" strike="noStrike"/>
          </a:p>
        </p:txBody>
      </p:sp>
      <p:pic>
        <p:nvPicPr>
          <p:cNvPr descr="preencoded.png" id="308" name="Google Shape;30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9909" y="1456134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5"/>
          <p:cNvSpPr/>
          <p:nvPr/>
        </p:nvSpPr>
        <p:spPr>
          <a:xfrm>
            <a:off x="4247436" y="2491978"/>
            <a:ext cx="2846427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Noisy Label Construction</a:t>
            </a:r>
            <a:endParaRPr b="0" i="0" sz="1800" u="none" cap="none" strike="noStrike"/>
          </a:p>
        </p:txBody>
      </p:sp>
      <p:sp>
        <p:nvSpPr>
          <p:cNvPr id="310" name="Google Shape;310;p35"/>
          <p:cNvSpPr/>
          <p:nvPr/>
        </p:nvSpPr>
        <p:spPr>
          <a:xfrm>
            <a:off x="4123492" y="2878693"/>
            <a:ext cx="3094434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CAPM-residual volatility is a weak supervision signal; stronger proxies such as option-implied volatility warrant study.</a:t>
            </a:r>
            <a:endParaRPr b="0" i="0" sz="1450" u="none" cap="none" strike="noStrike"/>
          </a:p>
        </p:txBody>
      </p:sp>
      <p:pic>
        <p:nvPicPr>
          <p:cNvPr descr="preencoded.png" id="311" name="Google Shape;31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8773" y="1456134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5"/>
          <p:cNvSpPr/>
          <p:nvPr/>
        </p:nvSpPr>
        <p:spPr>
          <a:xfrm>
            <a:off x="7439858" y="2491978"/>
            <a:ext cx="3039308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Temporal Non-Stationarity</a:t>
            </a:r>
            <a:endParaRPr b="0" i="0" sz="1800" u="none" cap="none" strike="noStrike"/>
          </a:p>
        </p:txBody>
      </p:sp>
      <p:sp>
        <p:nvSpPr>
          <p:cNvPr id="313" name="Google Shape;313;p35"/>
          <p:cNvSpPr/>
          <p:nvPr/>
        </p:nvSpPr>
        <p:spPr>
          <a:xfrm>
            <a:off x="7412355" y="2878693"/>
            <a:ext cx="3094434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Market regimes shift over time, creating distributional drift; continual learning and domain adaptation remain underused.</a:t>
            </a:r>
            <a:endParaRPr b="0" i="0" sz="1450" u="none" cap="none" strike="noStrike"/>
          </a:p>
        </p:txBody>
      </p:sp>
      <p:pic>
        <p:nvPicPr>
          <p:cNvPr descr="preencoded.png" id="314" name="Google Shape;31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67636" y="1456134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5"/>
          <p:cNvSpPr/>
          <p:nvPr/>
        </p:nvSpPr>
        <p:spPr>
          <a:xfrm>
            <a:off x="10701218" y="2491978"/>
            <a:ext cx="3094434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Acoustic Modality Shallowness</a:t>
            </a:r>
            <a:endParaRPr b="0" i="0" sz="1800" u="none" cap="none" strike="noStrike"/>
          </a:p>
        </p:txBody>
      </p:sp>
      <p:sp>
        <p:nvSpPr>
          <p:cNvPr id="316" name="Google Shape;316;p35"/>
          <p:cNvSpPr/>
          <p:nvPr/>
        </p:nvSpPr>
        <p:spPr>
          <a:xfrm>
            <a:off x="10701218" y="3172182"/>
            <a:ext cx="3094434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Most models rely on utterance-level features, missing prosody and stress patterns across the full call arc.</a:t>
            </a:r>
            <a:endParaRPr b="0" i="0" sz="1450" u="none" cap="none" strike="noStrike"/>
          </a:p>
        </p:txBody>
      </p:sp>
      <p:pic>
        <p:nvPicPr>
          <p:cNvPr descr="preencoded.png" id="317" name="Google Shape;317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5418" y="4856678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/>
          <p:nvPr/>
        </p:nvSpPr>
        <p:spPr>
          <a:xfrm>
            <a:off x="2852261" y="5892522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Speaker Conflation</a:t>
            </a:r>
            <a:endParaRPr b="0" i="0" sz="1800" u="none" cap="none" strike="noStrike"/>
          </a:p>
        </p:txBody>
      </p:sp>
      <p:sp>
        <p:nvSpPr>
          <p:cNvPr id="319" name="Google Shape;319;p35"/>
          <p:cNvSpPr/>
          <p:nvPr/>
        </p:nvSpPr>
        <p:spPr>
          <a:xfrm>
            <a:off x="2479000" y="6279237"/>
            <a:ext cx="3094434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Whole-call modelling can blur executive and non-executive roles, diluting the informational signal.</a:t>
            </a:r>
            <a:endParaRPr b="0" i="0" sz="1450" u="none" cap="none" strike="noStrike"/>
          </a:p>
        </p:txBody>
      </p:sp>
      <p:pic>
        <p:nvPicPr>
          <p:cNvPr descr="preencoded.png" id="320" name="Google Shape;320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4282" y="4856678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5"/>
          <p:cNvSpPr/>
          <p:nvPr/>
        </p:nvSpPr>
        <p:spPr>
          <a:xfrm>
            <a:off x="5767864" y="5892522"/>
            <a:ext cx="3094434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Evaluation Metric Mismatch</a:t>
            </a:r>
            <a:endParaRPr b="0" i="0" sz="1800" u="none" cap="none" strike="noStrike"/>
          </a:p>
        </p:txBody>
      </p:sp>
      <p:sp>
        <p:nvSpPr>
          <p:cNvPr id="322" name="Google Shape;322;p35"/>
          <p:cNvSpPr/>
          <p:nvPr/>
        </p:nvSpPr>
        <p:spPr>
          <a:xfrm>
            <a:off x="5767864" y="6572726"/>
            <a:ext cx="3094434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Inconsistent protocols make cross-paper comparison difficult, and common metrics often misalign with trading utility.</a:t>
            </a:r>
            <a:endParaRPr b="0" i="0" sz="1450" u="none" cap="none" strike="noStrike"/>
          </a:p>
        </p:txBody>
      </p:sp>
      <p:pic>
        <p:nvPicPr>
          <p:cNvPr descr="preencoded.png" id="323" name="Google Shape;323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23145" y="4856678"/>
            <a:ext cx="1361480" cy="84141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5"/>
          <p:cNvSpPr/>
          <p:nvPr/>
        </p:nvSpPr>
        <p:spPr>
          <a:xfrm>
            <a:off x="9056727" y="5892522"/>
            <a:ext cx="3094434" cy="586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Multimodal Alignment Fragility</a:t>
            </a:r>
            <a:endParaRPr b="0" i="0" sz="1800" u="none" cap="none" strike="noStrike"/>
          </a:p>
        </p:txBody>
      </p:sp>
      <p:sp>
        <p:nvSpPr>
          <p:cNvPr id="325" name="Google Shape;325;p35"/>
          <p:cNvSpPr/>
          <p:nvPr/>
        </p:nvSpPr>
        <p:spPr>
          <a:xfrm>
            <a:off x="9056727" y="6572726"/>
            <a:ext cx="3094434" cy="1098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Transcription errors, overlap, and segmentation artifacts introduce alignment noise that propagates through fusion models.</a:t>
            </a:r>
            <a:endParaRPr b="0" i="0" sz="1450" u="none" cap="none" strike="noStrike"/>
          </a:p>
        </p:txBody>
      </p:sp>
      <p:sp>
        <p:nvSpPr>
          <p:cNvPr id="326" name="Google Shape;326;p35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/>
          <p:nvPr/>
        </p:nvSpPr>
        <p:spPr>
          <a:xfrm>
            <a:off x="793790" y="286166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GitHub Repository</a:t>
            </a:r>
            <a:endParaRPr b="0" i="0" sz="4450" u="none" cap="none" strike="noStrike"/>
          </a:p>
        </p:txBody>
      </p:sp>
      <p:sp>
        <p:nvSpPr>
          <p:cNvPr id="333" name="Google Shape;333;p36"/>
          <p:cNvSpPr/>
          <p:nvPr/>
        </p:nvSpPr>
        <p:spPr>
          <a:xfrm>
            <a:off x="793790" y="402407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Explore the full technical implementation of our project. The public repository contains all source code, data preprocessing scripts, and trained model weights for the Multi-Modal Earnings Call Volatility Prediction.</a:t>
            </a:r>
            <a:endParaRPr b="0" i="0" sz="1750" u="none" cap="none" strike="noStrike"/>
          </a:p>
        </p:txBody>
      </p:sp>
      <p:sp>
        <p:nvSpPr>
          <p:cNvPr id="334" name="Google Shape;334;p36"/>
          <p:cNvSpPr/>
          <p:nvPr/>
        </p:nvSpPr>
        <p:spPr>
          <a:xfrm>
            <a:off x="793790" y="500503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C9770"/>
              </a:buClr>
              <a:buSzPts val="1750"/>
              <a:buFont typeface="Inter"/>
              <a:buNone/>
            </a:pPr>
            <a:r>
              <a:rPr b="0" i="0" lang="en-US" sz="17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https://github.com/patermars/MMECv2</a:t>
            </a:r>
            <a:endParaRPr b="0" i="0" sz="1750" u="none" cap="none" strike="noStrike"/>
          </a:p>
        </p:txBody>
      </p:sp>
      <p:sp>
        <p:nvSpPr>
          <p:cNvPr id="335" name="Google Shape;335;p36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/>
          <p:nvPr/>
        </p:nvSpPr>
        <p:spPr>
          <a:xfrm>
            <a:off x="1201460" y="600789"/>
            <a:ext cx="4430197" cy="553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450"/>
              <a:buFont typeface="DM Sans"/>
              <a:buNone/>
            </a:pPr>
            <a:r>
              <a:rPr b="0" i="0" lang="en-US" sz="3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References</a:t>
            </a:r>
            <a:endParaRPr b="0" i="0" sz="3450" u="none" cap="none" strike="noStrike"/>
          </a:p>
        </p:txBody>
      </p:sp>
      <p:sp>
        <p:nvSpPr>
          <p:cNvPr id="342" name="Google Shape;342;p37"/>
          <p:cNvSpPr/>
          <p:nvPr/>
        </p:nvSpPr>
        <p:spPr>
          <a:xfrm>
            <a:off x="1201460" y="1431369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[1] S. Ghosh, S. Bhat, S. Agrawal, and P. Majumdar, "MiMIC: Multi-Modal Indian Earnings Calls Dataset to Predict Stock Prices," arXiv preprint arXiv:2504.09257, Apr. 2025.</a:t>
            </a:r>
            <a:endParaRPr b="0" i="0" sz="1350" u="none" cap="none" strike="noStrike"/>
          </a:p>
        </p:txBody>
      </p:sp>
      <p:sp>
        <p:nvSpPr>
          <p:cNvPr id="343" name="Google Shape;343;p37"/>
          <p:cNvSpPr/>
          <p:nvPr/>
        </p:nvSpPr>
        <p:spPr>
          <a:xfrm>
            <a:off x="1201460" y="2091928"/>
            <a:ext cx="1222736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[2] F. Karadas and C. Yilmaz, "Multimodal Stock Price Prediction," arXiv preprint arXiv:2502.05186, Jan. 2025.</a:t>
            </a:r>
            <a:endParaRPr b="0" i="0" sz="1350" u="none" cap="none" strike="noStrike"/>
          </a:p>
        </p:txBody>
      </p:sp>
      <p:sp>
        <p:nvSpPr>
          <p:cNvPr id="344" name="Google Shape;344;p37"/>
          <p:cNvSpPr/>
          <p:nvPr/>
        </p:nvSpPr>
        <p:spPr>
          <a:xfrm>
            <a:off x="1201460" y="2500074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[3] S. Kim, K. Joo, D. Kim, J. Oh, and H. Choi, "Financial Statement Analysis with Large Language Models," arXiv preprint arXiv:2407.17866, Jul. 2024.</a:t>
            </a:r>
            <a:endParaRPr b="0" i="0" sz="1350" u="none" cap="none" strike="noStrike"/>
          </a:p>
        </p:txBody>
      </p:sp>
      <p:sp>
        <p:nvSpPr>
          <p:cNvPr id="345" name="Google Shape;345;p37"/>
          <p:cNvSpPr/>
          <p:nvPr/>
        </p:nvSpPr>
        <p:spPr>
          <a:xfrm>
            <a:off x="1201460" y="3160633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[4] L. Yang, J. Li, R. Dong, Y. Zhang, and B. Smyth, "NumHTML: Numeric-Oriented Hierarchical Transformer Model for Multi-Task Financial Forecasting," in Proc. 36th AAAI Conference on Artificial Intelligence (AAAI), 2022, pp. 9905–9913.</a:t>
            </a:r>
            <a:endParaRPr b="0" i="0" sz="1350" u="none" cap="none" strike="noStrike"/>
          </a:p>
        </p:txBody>
      </p:sp>
      <p:sp>
        <p:nvSpPr>
          <p:cNvPr id="346" name="Google Shape;346;p37"/>
          <p:cNvSpPr/>
          <p:nvPr/>
        </p:nvSpPr>
        <p:spPr>
          <a:xfrm>
            <a:off x="1201460" y="3821192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[5] S. Wu, O. Irsoy, S. Lu, V. Dabravolski, M. Dredze, S. Gehrmann, P. Kambadur, D. Rosenberg, and G. Mann, "BloombergGPT: A Large Language Model for Finance," arXiv preprint arXiv:2303.17564, 2023.</a:t>
            </a:r>
            <a:endParaRPr b="0" i="0" sz="1350" u="none" cap="none" strike="noStrike"/>
          </a:p>
        </p:txBody>
      </p:sp>
      <p:sp>
        <p:nvSpPr>
          <p:cNvPr id="347" name="Google Shape;347;p37"/>
          <p:cNvSpPr/>
          <p:nvPr/>
        </p:nvSpPr>
        <p:spPr>
          <a:xfrm>
            <a:off x="1201460" y="4481751"/>
            <a:ext cx="12227362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[6] R. Sawhney, P. Khanna, A. Aggarwal, T. Jain, P. Mathur, and R. R. Shah, "VolTAGE: Volatility Forecasting via Text Audio Fusion with Graph Convolution Networks for Earnings Calls," in Proc. 2020 Conference on Empirical Methods in Natural Language Processing (EMNLP), Online, 2020, pp. 8001–8013.</a:t>
            </a:r>
            <a:endParaRPr b="0" i="0" sz="1350" u="none" cap="none" strike="noStrike"/>
          </a:p>
        </p:txBody>
      </p:sp>
      <p:sp>
        <p:nvSpPr>
          <p:cNvPr id="348" name="Google Shape;348;p37"/>
          <p:cNvSpPr/>
          <p:nvPr/>
        </p:nvSpPr>
        <p:spPr>
          <a:xfrm>
            <a:off x="1201460" y="5394722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[7] J. Li, L. Yang, B. Smyth, and R. Dong, "MAEC: A Multimodal Aligned Earnings Conference Call Dataset for Financial Risk Prediction," arXiv preprint arXiv:2009.13890, 2020.</a:t>
            </a:r>
            <a:endParaRPr b="0" i="0" sz="1350" u="none" cap="none" strike="noStrike"/>
          </a:p>
        </p:txBody>
      </p:sp>
      <p:sp>
        <p:nvSpPr>
          <p:cNvPr id="349" name="Google Shape;349;p37"/>
          <p:cNvSpPr/>
          <p:nvPr/>
        </p:nvSpPr>
        <p:spPr>
          <a:xfrm>
            <a:off x="1201460" y="6055281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[8] A. Baevski, Y. Zhou, A. Mohamed, and M. Auli, "wav2vec 2.0: A Framework for Self-Supervised Learning of Speech Representations," in Advances in Neural Information Processing Systems (NeurIPS), vol. 33, 2020, pp. 12449–12460.</a:t>
            </a:r>
            <a:endParaRPr b="0" i="0" sz="1350" u="none" cap="none" strike="noStrike"/>
          </a:p>
        </p:txBody>
      </p:sp>
      <p:sp>
        <p:nvSpPr>
          <p:cNvPr id="350" name="Google Shape;350;p37"/>
          <p:cNvSpPr/>
          <p:nvPr/>
        </p:nvSpPr>
        <p:spPr>
          <a:xfrm>
            <a:off x="1201460" y="6715839"/>
            <a:ext cx="1222736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[9] Y. Qin and Y. Yang, "What You Say and How You Say It Matters: Predicting Stock Volatility Using Verbal and Vocal Cues," in Proc. 57th Annual Meeting of the Association for Computational Linguistics (ACL), Florence, Italy, 2019, pp. 390–401.</a:t>
            </a:r>
            <a:endParaRPr b="0" i="0" sz="1350" u="none" cap="none" strike="noStrike"/>
          </a:p>
        </p:txBody>
      </p:sp>
      <p:sp>
        <p:nvSpPr>
          <p:cNvPr id="351" name="Google Shape;351;p37"/>
          <p:cNvSpPr/>
          <p:nvPr/>
        </p:nvSpPr>
        <p:spPr>
          <a:xfrm>
            <a:off x="1201460" y="7376398"/>
            <a:ext cx="12227362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[10] D. Araci, "FinBERT: Financial Sentiment Analysis with Pre-Trained Language Models," arXiv preprint arXiv:1908.10063, 2019.</a:t>
            </a:r>
            <a:endParaRPr b="0" i="0" sz="1350" u="none" cap="none" strike="noStrike"/>
          </a:p>
        </p:txBody>
      </p:sp>
      <p:sp>
        <p:nvSpPr>
          <p:cNvPr id="352" name="Google Shape;352;p37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450"/>
              <a:buFont typeface="DM Sans"/>
              <a:buNone/>
            </a:pPr>
            <a:r>
              <a:rPr b="0" i="0" lang="en-US" sz="4450" u="none" cap="none" strike="noStrike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b="0" i="0" sz="4450" u="none" cap="none" strike="noStrike"/>
          </a:p>
        </p:txBody>
      </p:sp>
      <p:sp>
        <p:nvSpPr>
          <p:cNvPr id="359" name="Google Shape;359;p38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Thank you for your time and consideration. I appreciate the opportunity to share this work with you.</a:t>
            </a:r>
            <a:endParaRPr b="0" i="0" sz="1750" u="none" cap="none" strike="noStrike"/>
          </a:p>
        </p:txBody>
      </p:sp>
      <p:sp>
        <p:nvSpPr>
          <p:cNvPr id="360" name="Google Shape;360;p38"/>
          <p:cNvSpPr/>
          <p:nvPr/>
        </p:nvSpPr>
        <p:spPr>
          <a:xfrm>
            <a:off x="12747075" y="7575250"/>
            <a:ext cx="1799400" cy="59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